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 id="262" r:id="rId8"/>
    <p:sldId id="263" r:id="rId9"/>
    <p:sldId id="270" r:id="rId10"/>
    <p:sldId id="267" r:id="rId11"/>
    <p:sldId id="268" r:id="rId12"/>
    <p:sldId id="265" r:id="rId13"/>
    <p:sldId id="269"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5" d="100"/>
          <a:sy n="55" d="100"/>
        </p:scale>
        <p:origin x="109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EE86641-1510-47DE-9CFE-522BA1651CCA}"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E3361-0476-4445-A37A-9878B70778D1}" type="slidenum">
              <a:rPr lang="en-US" smtClean="0"/>
              <a:t>‹#›</a:t>
            </a:fld>
            <a:endParaRPr lang="en-US"/>
          </a:p>
        </p:txBody>
      </p:sp>
    </p:spTree>
    <p:extLst>
      <p:ext uri="{BB962C8B-B14F-4D97-AF65-F5344CB8AC3E}">
        <p14:creationId xmlns:p14="http://schemas.microsoft.com/office/powerpoint/2010/main" val="927172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E86641-1510-47DE-9CFE-522BA1651CCA}"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E3361-0476-4445-A37A-9878B70778D1}" type="slidenum">
              <a:rPr lang="en-US" smtClean="0"/>
              <a:t>‹#›</a:t>
            </a:fld>
            <a:endParaRPr lang="en-US"/>
          </a:p>
        </p:txBody>
      </p:sp>
    </p:spTree>
    <p:extLst>
      <p:ext uri="{BB962C8B-B14F-4D97-AF65-F5344CB8AC3E}">
        <p14:creationId xmlns:p14="http://schemas.microsoft.com/office/powerpoint/2010/main" val="3325354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E86641-1510-47DE-9CFE-522BA1651CCA}"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E3361-0476-4445-A37A-9878B70778D1}" type="slidenum">
              <a:rPr lang="en-US" smtClean="0"/>
              <a:t>‹#›</a:t>
            </a:fld>
            <a:endParaRPr lang="en-US"/>
          </a:p>
        </p:txBody>
      </p:sp>
    </p:spTree>
    <p:extLst>
      <p:ext uri="{BB962C8B-B14F-4D97-AF65-F5344CB8AC3E}">
        <p14:creationId xmlns:p14="http://schemas.microsoft.com/office/powerpoint/2010/main" val="795418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E86641-1510-47DE-9CFE-522BA1651CCA}"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BE3361-0476-4445-A37A-9878B70778D1}" type="slidenum">
              <a:rPr lang="en-US" smtClean="0"/>
              <a:t>‹#›</a:t>
            </a:fld>
            <a:endParaRPr lang="en-US"/>
          </a:p>
        </p:txBody>
      </p:sp>
    </p:spTree>
    <p:extLst>
      <p:ext uri="{BB962C8B-B14F-4D97-AF65-F5344CB8AC3E}">
        <p14:creationId xmlns:p14="http://schemas.microsoft.com/office/powerpoint/2010/main" val="4254322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E86641-1510-47DE-9CFE-522BA1651CCA}" type="datetimeFigureOut">
              <a:rPr lang="en-US" smtClean="0"/>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EBE3361-0476-4445-A37A-9878B70778D1}" type="slidenum">
              <a:rPr lang="en-US" smtClean="0"/>
              <a:t>‹#›</a:t>
            </a:fld>
            <a:endParaRPr lang="en-US"/>
          </a:p>
        </p:txBody>
      </p:sp>
    </p:spTree>
    <p:extLst>
      <p:ext uri="{BB962C8B-B14F-4D97-AF65-F5344CB8AC3E}">
        <p14:creationId xmlns:p14="http://schemas.microsoft.com/office/powerpoint/2010/main" val="2140607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EE86641-1510-47DE-9CFE-522BA1651CCA}" type="datetimeFigureOut">
              <a:rPr lang="en-US" smtClean="0"/>
              <a:t>4/21/2026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3EBE3361-0476-4445-A37A-9878B70778D1}" type="slidenum">
              <a:rPr lang="en-US" smtClean="0"/>
              <a:t>‹#›</a:t>
            </a:fld>
            <a:endParaRPr lang="en-US"/>
          </a:p>
        </p:txBody>
      </p:sp>
    </p:spTree>
    <p:extLst>
      <p:ext uri="{BB962C8B-B14F-4D97-AF65-F5344CB8AC3E}">
        <p14:creationId xmlns:p14="http://schemas.microsoft.com/office/powerpoint/2010/main" val="3087480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EE86641-1510-47DE-9CFE-522BA1651CCA}" type="datetimeFigureOut">
              <a:rPr lang="en-US" smtClean="0"/>
              <a:t>4/21/2026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3EBE3361-0476-4445-A37A-9878B70778D1}" type="slidenum">
              <a:rPr lang="en-US" smtClean="0"/>
              <a:t>‹#›</a:t>
            </a:fld>
            <a:endParaRPr lang="en-US"/>
          </a:p>
        </p:txBody>
      </p:sp>
    </p:spTree>
    <p:extLst>
      <p:ext uri="{BB962C8B-B14F-4D97-AF65-F5344CB8AC3E}">
        <p14:creationId xmlns:p14="http://schemas.microsoft.com/office/powerpoint/2010/main" val="1163524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EEE86641-1510-47DE-9CFE-522BA1651CCA}" type="datetimeFigureOut">
              <a:rPr lang="en-US" smtClean="0"/>
              <a:t>4/21/2026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3EBE3361-0476-4445-A37A-9878B70778D1}" type="slidenum">
              <a:rPr lang="en-US" smtClean="0"/>
              <a:t>‹#›</a:t>
            </a:fld>
            <a:endParaRPr lang="en-US"/>
          </a:p>
        </p:txBody>
      </p:sp>
    </p:spTree>
    <p:extLst>
      <p:ext uri="{BB962C8B-B14F-4D97-AF65-F5344CB8AC3E}">
        <p14:creationId xmlns:p14="http://schemas.microsoft.com/office/powerpoint/2010/main" val="3878428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E86641-1510-47DE-9CFE-522BA1651CCA}"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BE3361-0476-4445-A37A-9878B70778D1}" type="slidenum">
              <a:rPr lang="en-US" smtClean="0"/>
              <a:t>‹#›</a:t>
            </a:fld>
            <a:endParaRPr lang="en-US"/>
          </a:p>
        </p:txBody>
      </p:sp>
    </p:spTree>
    <p:extLst>
      <p:ext uri="{BB962C8B-B14F-4D97-AF65-F5344CB8AC3E}">
        <p14:creationId xmlns:p14="http://schemas.microsoft.com/office/powerpoint/2010/main" val="2463099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E86641-1510-47DE-9CFE-522BA1651CCA}"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BE3361-0476-4445-A37A-9878B70778D1}" type="slidenum">
              <a:rPr lang="en-US" smtClean="0"/>
              <a:t>‹#›</a:t>
            </a:fld>
            <a:endParaRPr lang="en-US"/>
          </a:p>
        </p:txBody>
      </p:sp>
    </p:spTree>
    <p:extLst>
      <p:ext uri="{BB962C8B-B14F-4D97-AF65-F5344CB8AC3E}">
        <p14:creationId xmlns:p14="http://schemas.microsoft.com/office/powerpoint/2010/main" val="144051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EE86641-1510-47DE-9CFE-522BA1651CCA}"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E3361-0476-4445-A37A-9878B70778D1}" type="slidenum">
              <a:rPr lang="en-US" smtClean="0"/>
              <a:t>‹#›</a:t>
            </a:fld>
            <a:endParaRPr lang="en-US"/>
          </a:p>
        </p:txBody>
      </p:sp>
    </p:spTree>
    <p:extLst>
      <p:ext uri="{BB962C8B-B14F-4D97-AF65-F5344CB8AC3E}">
        <p14:creationId xmlns:p14="http://schemas.microsoft.com/office/powerpoint/2010/main" val="3952250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EE86641-1510-47DE-9CFE-522BA1651CCA}"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E3361-0476-4445-A37A-9878B70778D1}"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7196804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E86641-1510-47DE-9CFE-522BA1651CCA}"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E3361-0476-4445-A37A-9878B70778D1}" type="slidenum">
              <a:rPr lang="en-US" smtClean="0"/>
              <a:t>‹#›</a:t>
            </a:fld>
            <a:endParaRPr lang="en-US"/>
          </a:p>
        </p:txBody>
      </p:sp>
    </p:spTree>
    <p:extLst>
      <p:ext uri="{BB962C8B-B14F-4D97-AF65-F5344CB8AC3E}">
        <p14:creationId xmlns:p14="http://schemas.microsoft.com/office/powerpoint/2010/main" val="42916934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EE86641-1510-47DE-9CFE-522BA1651CCA}" type="datetimeFigureOut">
              <a:rPr lang="en-US" smtClean="0"/>
              <a:t>4/21/2026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E3361-0476-4445-A37A-9878B70778D1}" type="slidenum">
              <a:rPr lang="en-US" smtClean="0"/>
              <a:t>‹#›</a:t>
            </a:fld>
            <a:endParaRPr lang="en-US"/>
          </a:p>
        </p:txBody>
      </p:sp>
    </p:spTree>
    <p:extLst>
      <p:ext uri="{BB962C8B-B14F-4D97-AF65-F5344CB8AC3E}">
        <p14:creationId xmlns:p14="http://schemas.microsoft.com/office/powerpoint/2010/main" val="22149622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EE86641-1510-47DE-9CFE-522BA1651CCA}" type="datetimeFigureOut">
              <a:rPr lang="en-US" smtClean="0"/>
              <a:t>4/21/2026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E3361-0476-4445-A37A-9878B70778D1}" type="slidenum">
              <a:rPr lang="en-US" smtClean="0"/>
              <a:t>‹#›</a:t>
            </a:fld>
            <a:endParaRPr lang="en-US"/>
          </a:p>
        </p:txBody>
      </p:sp>
    </p:spTree>
    <p:extLst>
      <p:ext uri="{BB962C8B-B14F-4D97-AF65-F5344CB8AC3E}">
        <p14:creationId xmlns:p14="http://schemas.microsoft.com/office/powerpoint/2010/main" val="3271837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E86641-1510-47DE-9CFE-522BA1651CCA}"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E3361-0476-4445-A37A-9878B70778D1}" type="slidenum">
              <a:rPr lang="en-US" smtClean="0"/>
              <a:t>‹#›</a:t>
            </a:fld>
            <a:endParaRPr lang="en-US"/>
          </a:p>
        </p:txBody>
      </p:sp>
    </p:spTree>
    <p:extLst>
      <p:ext uri="{BB962C8B-B14F-4D97-AF65-F5344CB8AC3E}">
        <p14:creationId xmlns:p14="http://schemas.microsoft.com/office/powerpoint/2010/main" val="20377788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E86641-1510-47DE-9CFE-522BA1651CCA}"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E3361-0476-4445-A37A-9878B70778D1}" type="slidenum">
              <a:rPr lang="en-US" smtClean="0"/>
              <a:t>‹#›</a:t>
            </a:fld>
            <a:endParaRPr lang="en-US"/>
          </a:p>
        </p:txBody>
      </p:sp>
    </p:spTree>
    <p:extLst>
      <p:ext uri="{BB962C8B-B14F-4D97-AF65-F5344CB8AC3E}">
        <p14:creationId xmlns:p14="http://schemas.microsoft.com/office/powerpoint/2010/main" val="1751459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EE86641-1510-47DE-9CFE-522BA1651CCA}" type="datetimeFigureOut">
              <a:rPr lang="en-US" smtClean="0"/>
              <a:t>4/21/2026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EBE3361-0476-4445-A37A-9878B70778D1}" type="slidenum">
              <a:rPr lang="en-US" smtClean="0"/>
              <a:t>‹#›</a:t>
            </a:fld>
            <a:endParaRPr lang="en-US"/>
          </a:p>
        </p:txBody>
      </p:sp>
    </p:spTree>
    <p:extLst>
      <p:ext uri="{BB962C8B-B14F-4D97-AF65-F5344CB8AC3E}">
        <p14:creationId xmlns:p14="http://schemas.microsoft.com/office/powerpoint/2010/main" val="2707689344"/>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4.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21901-D354-F73C-90F4-85C17D26A632}"/>
              </a:ext>
            </a:extLst>
          </p:cNvPr>
          <p:cNvSpPr>
            <a:spLocks noGrp="1"/>
          </p:cNvSpPr>
          <p:nvPr>
            <p:ph type="ctrTitle"/>
          </p:nvPr>
        </p:nvSpPr>
        <p:spPr/>
        <p:txBody>
          <a:bodyPr/>
          <a:lstStyle/>
          <a:p>
            <a:r>
              <a:rPr lang="en-US" dirty="0"/>
              <a:t>GLOBAL COVID-19 </a:t>
            </a:r>
          </a:p>
        </p:txBody>
      </p:sp>
      <p:sp>
        <p:nvSpPr>
          <p:cNvPr id="3" name="Subtitle 2">
            <a:extLst>
              <a:ext uri="{FF2B5EF4-FFF2-40B4-BE49-F238E27FC236}">
                <a16:creationId xmlns:a16="http://schemas.microsoft.com/office/drawing/2014/main" id="{52FE9E91-A619-202D-2FC1-D2A209AE2282}"/>
              </a:ext>
            </a:extLst>
          </p:cNvPr>
          <p:cNvSpPr>
            <a:spLocks noGrp="1"/>
          </p:cNvSpPr>
          <p:nvPr>
            <p:ph type="subTitle" idx="1"/>
          </p:nvPr>
        </p:nvSpPr>
        <p:spPr>
          <a:xfrm>
            <a:off x="1154954" y="4777380"/>
            <a:ext cx="9665445" cy="2080620"/>
          </a:xfrm>
        </p:spPr>
        <p:txBody>
          <a:bodyPr>
            <a:normAutofit/>
          </a:bodyPr>
          <a:lstStyle/>
          <a:p>
            <a:r>
              <a:rPr lang="en-US" dirty="0"/>
              <a:t>a detailed analysis of global Covid-19 trends, fatality rates, and policy measures (2020-2025).</a:t>
            </a:r>
          </a:p>
          <a:p>
            <a:endParaRPr lang="en-US" dirty="0"/>
          </a:p>
          <a:p>
            <a:pPr algn="r"/>
            <a:r>
              <a:rPr lang="en-US" sz="1600" dirty="0"/>
              <a:t>Uchechukwu </a:t>
            </a:r>
            <a:r>
              <a:rPr lang="en-US" sz="1600" dirty="0" err="1"/>
              <a:t>okonkwo</a:t>
            </a:r>
            <a:endParaRPr lang="en-US" sz="1600" dirty="0"/>
          </a:p>
          <a:p>
            <a:endParaRPr lang="en-US" dirty="0"/>
          </a:p>
          <a:p>
            <a:endParaRPr lang="en-US" dirty="0"/>
          </a:p>
        </p:txBody>
      </p:sp>
    </p:spTree>
    <p:extLst>
      <p:ext uri="{BB962C8B-B14F-4D97-AF65-F5344CB8AC3E}">
        <p14:creationId xmlns:p14="http://schemas.microsoft.com/office/powerpoint/2010/main" val="1029833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07364-78B9-5D46-31A3-5204260D4BF5}"/>
              </a:ext>
            </a:extLst>
          </p:cNvPr>
          <p:cNvSpPr>
            <a:spLocks noGrp="1"/>
          </p:cNvSpPr>
          <p:nvPr>
            <p:ph type="title"/>
          </p:nvPr>
        </p:nvSpPr>
        <p:spPr>
          <a:xfrm>
            <a:off x="646111" y="452718"/>
            <a:ext cx="9404723" cy="847272"/>
          </a:xfrm>
        </p:spPr>
        <p:txBody>
          <a:bodyPr/>
          <a:lstStyle/>
          <a:p>
            <a:r>
              <a:rPr lang="en-US" dirty="0"/>
              <a:t>RESEARCH QUESTIONS</a:t>
            </a:r>
          </a:p>
        </p:txBody>
      </p:sp>
      <p:sp>
        <p:nvSpPr>
          <p:cNvPr id="3" name="Content Placeholder 2">
            <a:extLst>
              <a:ext uri="{FF2B5EF4-FFF2-40B4-BE49-F238E27FC236}">
                <a16:creationId xmlns:a16="http://schemas.microsoft.com/office/drawing/2014/main" id="{0864DA1F-BE8B-C096-13F6-2BA98B0C1E24}"/>
              </a:ext>
            </a:extLst>
          </p:cNvPr>
          <p:cNvSpPr>
            <a:spLocks noGrp="1"/>
          </p:cNvSpPr>
          <p:nvPr>
            <p:ph idx="1"/>
          </p:nvPr>
        </p:nvSpPr>
        <p:spPr>
          <a:xfrm>
            <a:off x="1103312" y="1299990"/>
            <a:ext cx="8946541" cy="5233012"/>
          </a:xfrm>
        </p:spPr>
        <p:txBody>
          <a:bodyPr>
            <a:normAutofit/>
          </a:bodyPr>
          <a:lstStyle/>
          <a:p>
            <a:pPr marL="0" indent="0">
              <a:buNone/>
            </a:pPr>
            <a:r>
              <a:rPr lang="en-US" dirty="0"/>
              <a:t>THEME A: GLOBAL INTENSITY</a:t>
            </a:r>
          </a:p>
          <a:p>
            <a:pPr>
              <a:buFont typeface="Wingdings" panose="05000000000000000000" pitchFamily="2" charset="2"/>
              <a:buChar char="§"/>
            </a:pPr>
            <a:r>
              <a:rPr lang="en-US" sz="1400" dirty="0"/>
              <a:t>What were the overall cases and fatalities recorded due to Covid?</a:t>
            </a:r>
          </a:p>
          <a:p>
            <a:pPr>
              <a:buFont typeface="Wingdings" panose="05000000000000000000" pitchFamily="2" charset="2"/>
              <a:buChar char="§"/>
            </a:pPr>
            <a:r>
              <a:rPr lang="en-US" sz="1400" dirty="0"/>
              <a:t>What year had the highest number of cases?</a:t>
            </a:r>
          </a:p>
          <a:p>
            <a:pPr>
              <a:buFont typeface="Wingdings" panose="05000000000000000000" pitchFamily="2" charset="2"/>
              <a:buChar char="§"/>
            </a:pPr>
            <a:r>
              <a:rPr lang="en-US" sz="1400" dirty="0"/>
              <a:t>In what year did the most deaths occur?</a:t>
            </a:r>
          </a:p>
          <a:p>
            <a:pPr>
              <a:buFont typeface="Wingdings" panose="05000000000000000000" pitchFamily="2" charset="2"/>
              <a:buChar char="§"/>
            </a:pPr>
            <a:r>
              <a:rPr lang="en-US" sz="1400" dirty="0"/>
              <a:t>How frequent were there new fatalities and cases?</a:t>
            </a:r>
          </a:p>
          <a:p>
            <a:pPr>
              <a:buFont typeface="Wingdings" panose="05000000000000000000" pitchFamily="2" charset="2"/>
              <a:buChar char="§"/>
            </a:pPr>
            <a:r>
              <a:rPr lang="en-US" sz="1400" dirty="0"/>
              <a:t>What was the average reproduction rate recorded? </a:t>
            </a:r>
          </a:p>
          <a:p>
            <a:pPr marL="0" indent="0">
              <a:buNone/>
            </a:pPr>
            <a:r>
              <a:rPr lang="en-US" dirty="0"/>
              <a:t>THEME B: GEOGRAPHIC IMPACT</a:t>
            </a:r>
          </a:p>
          <a:p>
            <a:pPr>
              <a:buFont typeface="Wingdings" panose="05000000000000000000" pitchFamily="2" charset="2"/>
              <a:buChar char="§"/>
            </a:pPr>
            <a:r>
              <a:rPr lang="en-US" sz="1400" dirty="0"/>
              <a:t>What was the mortality rate in each continent, and which continent was most affected?</a:t>
            </a:r>
          </a:p>
          <a:p>
            <a:pPr>
              <a:buFont typeface="Wingdings" panose="05000000000000000000" pitchFamily="2" charset="2"/>
              <a:buChar char="§"/>
            </a:pPr>
            <a:r>
              <a:rPr lang="en-US" sz="1400" dirty="0"/>
              <a:t>What countries had the highest mortality rate?</a:t>
            </a:r>
          </a:p>
          <a:p>
            <a:pPr marL="0" indent="0">
              <a:buNone/>
            </a:pPr>
            <a:r>
              <a:rPr lang="en-US" dirty="0"/>
              <a:t>THEME C: GLOBAL RESPONSE &amp; PREVENTION</a:t>
            </a:r>
          </a:p>
          <a:p>
            <a:pPr>
              <a:buFont typeface="Wingdings" panose="05000000000000000000" pitchFamily="2" charset="2"/>
              <a:buChar char="§"/>
            </a:pPr>
            <a:r>
              <a:rPr lang="en-US" sz="1400" dirty="0"/>
              <a:t>How strict overall were government policies regarding the pandemic? (Stringency Index) </a:t>
            </a:r>
          </a:p>
          <a:p>
            <a:pPr>
              <a:buFont typeface="Wingdings" panose="05000000000000000000" pitchFamily="2" charset="2"/>
              <a:buChar char="§"/>
            </a:pPr>
            <a:r>
              <a:rPr lang="en-US" sz="1400" dirty="0"/>
              <a:t>What could we note about the number of cases in countries with stricter policies and their death rate as well? Did their high Stringency Index contribute to lowering the deaths and new cases, or did it not help?</a:t>
            </a:r>
          </a:p>
          <a:p>
            <a:pPr>
              <a:buFont typeface="Wingdings" panose="05000000000000000000" pitchFamily="2" charset="2"/>
              <a:buChar char="§"/>
            </a:pPr>
            <a:r>
              <a:rPr lang="en-US" sz="1400" dirty="0"/>
              <a:t>Were there enough vaccinations available for prevention?</a:t>
            </a:r>
          </a:p>
          <a:p>
            <a:pPr marL="0" indent="0">
              <a:buNone/>
            </a:pPr>
            <a:endParaRPr lang="en-US" sz="1200" dirty="0"/>
          </a:p>
          <a:p>
            <a:pPr marL="0" indent="0">
              <a:buNone/>
            </a:pPr>
            <a:endParaRPr lang="en-US" dirty="0"/>
          </a:p>
        </p:txBody>
      </p:sp>
    </p:spTree>
    <p:extLst>
      <p:ext uri="{BB962C8B-B14F-4D97-AF65-F5344CB8AC3E}">
        <p14:creationId xmlns:p14="http://schemas.microsoft.com/office/powerpoint/2010/main" val="669997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E1E54-6C17-BD95-32AD-3AF3FBA1919F}"/>
              </a:ext>
            </a:extLst>
          </p:cNvPr>
          <p:cNvSpPr>
            <a:spLocks noGrp="1"/>
          </p:cNvSpPr>
          <p:nvPr>
            <p:ph type="title"/>
          </p:nvPr>
        </p:nvSpPr>
        <p:spPr>
          <a:xfrm>
            <a:off x="646111" y="452718"/>
            <a:ext cx="9404723" cy="1060396"/>
          </a:xfrm>
        </p:spPr>
        <p:txBody>
          <a:bodyPr/>
          <a:lstStyle/>
          <a:p>
            <a:r>
              <a:rPr lang="en-US" dirty="0"/>
              <a:t>DATA MODEL</a:t>
            </a:r>
          </a:p>
        </p:txBody>
      </p:sp>
      <p:sp>
        <p:nvSpPr>
          <p:cNvPr id="3" name="Content Placeholder 2">
            <a:extLst>
              <a:ext uri="{FF2B5EF4-FFF2-40B4-BE49-F238E27FC236}">
                <a16:creationId xmlns:a16="http://schemas.microsoft.com/office/drawing/2014/main" id="{445A3AE9-36EC-2BF4-E107-B40B1D2661BA}"/>
              </a:ext>
            </a:extLst>
          </p:cNvPr>
          <p:cNvSpPr>
            <a:spLocks noGrp="1"/>
          </p:cNvSpPr>
          <p:nvPr>
            <p:ph sz="half" idx="1"/>
          </p:nvPr>
        </p:nvSpPr>
        <p:spPr>
          <a:xfrm>
            <a:off x="870858" y="1639262"/>
            <a:ext cx="4628794" cy="4617077"/>
          </a:xfrm>
        </p:spPr>
        <p:txBody>
          <a:bodyPr/>
          <a:lstStyle/>
          <a:p>
            <a:pPr>
              <a:buFont typeface="Wingdings" panose="05000000000000000000" pitchFamily="2" charset="2"/>
              <a:buChar char="Ø"/>
            </a:pPr>
            <a:r>
              <a:rPr lang="en-US" dirty="0"/>
              <a:t>Before Modelling</a:t>
            </a:r>
          </a:p>
          <a:p>
            <a:pPr marL="0" indent="0">
              <a:buNone/>
            </a:pPr>
            <a:endParaRPr lang="en-US" dirty="0"/>
          </a:p>
        </p:txBody>
      </p:sp>
      <p:sp>
        <p:nvSpPr>
          <p:cNvPr id="4" name="Content Placeholder 3">
            <a:extLst>
              <a:ext uri="{FF2B5EF4-FFF2-40B4-BE49-F238E27FC236}">
                <a16:creationId xmlns:a16="http://schemas.microsoft.com/office/drawing/2014/main" id="{09AE1774-126A-9F68-434B-6864102A1A94}"/>
              </a:ext>
            </a:extLst>
          </p:cNvPr>
          <p:cNvSpPr>
            <a:spLocks noGrp="1"/>
          </p:cNvSpPr>
          <p:nvPr>
            <p:ph sz="half" idx="2"/>
          </p:nvPr>
        </p:nvSpPr>
        <p:spPr>
          <a:xfrm>
            <a:off x="5499652" y="1643743"/>
            <a:ext cx="6046237" cy="4617077"/>
          </a:xfrm>
        </p:spPr>
        <p:txBody>
          <a:bodyPr/>
          <a:lstStyle/>
          <a:p>
            <a:pPr>
              <a:buFont typeface="Wingdings" panose="05000000000000000000" pitchFamily="2" charset="2"/>
              <a:buChar char="Ø"/>
            </a:pPr>
            <a:r>
              <a:rPr lang="en-US" dirty="0"/>
              <a:t>After Modelling</a:t>
            </a:r>
          </a:p>
          <a:p>
            <a:pPr marL="0" indent="0">
              <a:buNone/>
            </a:pPr>
            <a:endParaRPr lang="en-US" dirty="0"/>
          </a:p>
        </p:txBody>
      </p:sp>
      <p:pic>
        <p:nvPicPr>
          <p:cNvPr id="8" name="Picture 7">
            <a:extLst>
              <a:ext uri="{FF2B5EF4-FFF2-40B4-BE49-F238E27FC236}">
                <a16:creationId xmlns:a16="http://schemas.microsoft.com/office/drawing/2014/main" id="{F3551867-A48E-7224-1537-7C86176E84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0858" y="2724944"/>
            <a:ext cx="4318918" cy="3175113"/>
          </a:xfrm>
          <a:prstGeom prst="rect">
            <a:avLst/>
          </a:prstGeom>
        </p:spPr>
      </p:pic>
      <p:pic>
        <p:nvPicPr>
          <p:cNvPr id="10" name="Picture 9">
            <a:extLst>
              <a:ext uri="{FF2B5EF4-FFF2-40B4-BE49-F238E27FC236}">
                <a16:creationId xmlns:a16="http://schemas.microsoft.com/office/drawing/2014/main" id="{4CFF77DF-7C3E-42BC-FC5F-6203A6F45E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1740" y="2675957"/>
            <a:ext cx="5841775" cy="3273085"/>
          </a:xfrm>
          <a:prstGeom prst="rect">
            <a:avLst/>
          </a:prstGeom>
        </p:spPr>
      </p:pic>
    </p:spTree>
    <p:extLst>
      <p:ext uri="{BB962C8B-B14F-4D97-AF65-F5344CB8AC3E}">
        <p14:creationId xmlns:p14="http://schemas.microsoft.com/office/powerpoint/2010/main" val="195368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B3901-3306-5B11-E22F-41AE296519ED}"/>
              </a:ext>
            </a:extLst>
          </p:cNvPr>
          <p:cNvSpPr>
            <a:spLocks noGrp="1"/>
          </p:cNvSpPr>
          <p:nvPr>
            <p:ph type="title"/>
          </p:nvPr>
        </p:nvSpPr>
        <p:spPr>
          <a:xfrm>
            <a:off x="646111" y="452718"/>
            <a:ext cx="9404723" cy="969686"/>
          </a:xfrm>
        </p:spPr>
        <p:txBody>
          <a:bodyPr/>
          <a:lstStyle/>
          <a:p>
            <a:r>
              <a:rPr lang="en-US" dirty="0"/>
              <a:t>THEME A: GLOBAL INTENSITY</a:t>
            </a:r>
          </a:p>
        </p:txBody>
      </p:sp>
      <p:sp>
        <p:nvSpPr>
          <p:cNvPr id="3" name="Text Placeholder 2">
            <a:extLst>
              <a:ext uri="{FF2B5EF4-FFF2-40B4-BE49-F238E27FC236}">
                <a16:creationId xmlns:a16="http://schemas.microsoft.com/office/drawing/2014/main" id="{FE3DDAF6-1AF0-937B-4E64-90F477605A30}"/>
              </a:ext>
            </a:extLst>
          </p:cNvPr>
          <p:cNvSpPr>
            <a:spLocks noGrp="1"/>
          </p:cNvSpPr>
          <p:nvPr>
            <p:ph type="body" idx="1"/>
          </p:nvPr>
        </p:nvSpPr>
        <p:spPr>
          <a:xfrm>
            <a:off x="632947" y="1611086"/>
            <a:ext cx="2946866" cy="816428"/>
          </a:xfrm>
        </p:spPr>
        <p:txBody>
          <a:bodyPr/>
          <a:lstStyle/>
          <a:p>
            <a:r>
              <a:rPr lang="en-US" sz="1800" dirty="0"/>
              <a:t>What were the overall cases and fatalities recorded due to Covid?</a:t>
            </a:r>
          </a:p>
        </p:txBody>
      </p:sp>
      <p:sp>
        <p:nvSpPr>
          <p:cNvPr id="4" name="Text Placeholder 3">
            <a:extLst>
              <a:ext uri="{FF2B5EF4-FFF2-40B4-BE49-F238E27FC236}">
                <a16:creationId xmlns:a16="http://schemas.microsoft.com/office/drawing/2014/main" id="{65DC2204-7C93-2F96-552B-E6BB7F691281}"/>
              </a:ext>
            </a:extLst>
          </p:cNvPr>
          <p:cNvSpPr>
            <a:spLocks noGrp="1"/>
          </p:cNvSpPr>
          <p:nvPr>
            <p:ph type="body" sz="half" idx="15"/>
          </p:nvPr>
        </p:nvSpPr>
        <p:spPr>
          <a:xfrm>
            <a:off x="652463" y="2551740"/>
            <a:ext cx="2927350" cy="3704598"/>
          </a:xfrm>
        </p:spPr>
        <p:txBody>
          <a:bodyPr/>
          <a:lstStyle/>
          <a:p>
            <a:r>
              <a:rPr lang="en-US" dirty="0"/>
              <a:t>The overall cases recorded were:</a:t>
            </a:r>
          </a:p>
          <a:p>
            <a:endParaRPr lang="en-US" dirty="0"/>
          </a:p>
          <a:p>
            <a:endParaRPr lang="en-US" dirty="0"/>
          </a:p>
          <a:p>
            <a:endParaRPr lang="en-US" dirty="0"/>
          </a:p>
          <a:p>
            <a:r>
              <a:rPr lang="en-US" dirty="0"/>
              <a:t>While the overall recorded deaths were:</a:t>
            </a:r>
          </a:p>
          <a:p>
            <a:endParaRPr lang="en-US" dirty="0"/>
          </a:p>
          <a:p>
            <a:endParaRPr lang="en-US" dirty="0"/>
          </a:p>
          <a:p>
            <a:endParaRPr lang="en-US" dirty="0"/>
          </a:p>
          <a:p>
            <a:r>
              <a:rPr lang="en-US" dirty="0"/>
              <a:t>These values show there was a 1.09% case fatality rate.</a:t>
            </a:r>
          </a:p>
        </p:txBody>
      </p:sp>
      <p:sp>
        <p:nvSpPr>
          <p:cNvPr id="5" name="Text Placeholder 4">
            <a:extLst>
              <a:ext uri="{FF2B5EF4-FFF2-40B4-BE49-F238E27FC236}">
                <a16:creationId xmlns:a16="http://schemas.microsoft.com/office/drawing/2014/main" id="{90B48AE6-362F-C64B-05C3-DE94F078367E}"/>
              </a:ext>
            </a:extLst>
          </p:cNvPr>
          <p:cNvSpPr>
            <a:spLocks noGrp="1"/>
          </p:cNvSpPr>
          <p:nvPr>
            <p:ph type="body" sz="quarter" idx="3"/>
          </p:nvPr>
        </p:nvSpPr>
        <p:spPr>
          <a:xfrm>
            <a:off x="3883659" y="1611086"/>
            <a:ext cx="2936241" cy="816428"/>
          </a:xfrm>
        </p:spPr>
        <p:txBody>
          <a:bodyPr/>
          <a:lstStyle/>
          <a:p>
            <a:r>
              <a:rPr lang="en-US" sz="1800" dirty="0"/>
              <a:t>What year had the highest number of cases?</a:t>
            </a:r>
          </a:p>
        </p:txBody>
      </p:sp>
      <p:sp>
        <p:nvSpPr>
          <p:cNvPr id="6" name="Text Placeholder 5">
            <a:extLst>
              <a:ext uri="{FF2B5EF4-FFF2-40B4-BE49-F238E27FC236}">
                <a16:creationId xmlns:a16="http://schemas.microsoft.com/office/drawing/2014/main" id="{75E36B08-EB22-8DFF-88F8-B23345AE6006}"/>
              </a:ext>
            </a:extLst>
          </p:cNvPr>
          <p:cNvSpPr>
            <a:spLocks noGrp="1"/>
          </p:cNvSpPr>
          <p:nvPr>
            <p:ph type="body" sz="half" idx="16"/>
          </p:nvPr>
        </p:nvSpPr>
        <p:spPr/>
        <p:txBody>
          <a:bodyPr/>
          <a:lstStyle/>
          <a:p>
            <a:r>
              <a:rPr lang="en-US" dirty="0"/>
              <a:t>From the trends chart it was noted that the year 2023 had the most cases recorded with an estimated over 103 million cases recorded.</a:t>
            </a:r>
          </a:p>
        </p:txBody>
      </p:sp>
      <p:sp>
        <p:nvSpPr>
          <p:cNvPr id="7" name="Text Placeholder 6">
            <a:extLst>
              <a:ext uri="{FF2B5EF4-FFF2-40B4-BE49-F238E27FC236}">
                <a16:creationId xmlns:a16="http://schemas.microsoft.com/office/drawing/2014/main" id="{6476F952-F93D-675E-9963-9E91575613EA}"/>
              </a:ext>
            </a:extLst>
          </p:cNvPr>
          <p:cNvSpPr>
            <a:spLocks noGrp="1"/>
          </p:cNvSpPr>
          <p:nvPr>
            <p:ph type="body" sz="quarter" idx="13"/>
          </p:nvPr>
        </p:nvSpPr>
        <p:spPr>
          <a:xfrm>
            <a:off x="7124700" y="1611086"/>
            <a:ext cx="2932113" cy="816428"/>
          </a:xfrm>
        </p:spPr>
        <p:txBody>
          <a:bodyPr/>
          <a:lstStyle/>
          <a:p>
            <a:r>
              <a:rPr lang="en-US" sz="1800" dirty="0"/>
              <a:t>In what year did the most deaths occur?</a:t>
            </a:r>
          </a:p>
        </p:txBody>
      </p:sp>
      <p:sp>
        <p:nvSpPr>
          <p:cNvPr id="8" name="Text Placeholder 7">
            <a:extLst>
              <a:ext uri="{FF2B5EF4-FFF2-40B4-BE49-F238E27FC236}">
                <a16:creationId xmlns:a16="http://schemas.microsoft.com/office/drawing/2014/main" id="{7961A4C7-76E9-4C50-062D-A6FE51AF4CA7}"/>
              </a:ext>
            </a:extLst>
          </p:cNvPr>
          <p:cNvSpPr>
            <a:spLocks noGrp="1"/>
          </p:cNvSpPr>
          <p:nvPr>
            <p:ph type="body" sz="half" idx="17"/>
          </p:nvPr>
        </p:nvSpPr>
        <p:spPr/>
        <p:txBody>
          <a:bodyPr/>
          <a:lstStyle/>
          <a:p>
            <a:r>
              <a:rPr lang="en-US" dirty="0"/>
              <a:t>It was noted from the trends chart, that the year 2023 had the most recorded deaths with an estimated value of over 1.1 million deaths recorded.</a:t>
            </a:r>
          </a:p>
          <a:p>
            <a:endParaRPr lang="en-US" dirty="0"/>
          </a:p>
          <a:p>
            <a:endParaRPr lang="en-US" dirty="0"/>
          </a:p>
        </p:txBody>
      </p:sp>
      <p:pic>
        <p:nvPicPr>
          <p:cNvPr id="11" name="Picture 10">
            <a:extLst>
              <a:ext uri="{FF2B5EF4-FFF2-40B4-BE49-F238E27FC236}">
                <a16:creationId xmlns:a16="http://schemas.microsoft.com/office/drawing/2014/main" id="{B6F4F088-A397-173C-B52E-389BA0344F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567" y="3246583"/>
            <a:ext cx="1346269" cy="609631"/>
          </a:xfrm>
          <a:prstGeom prst="rect">
            <a:avLst/>
          </a:prstGeom>
        </p:spPr>
      </p:pic>
      <p:pic>
        <p:nvPicPr>
          <p:cNvPr id="15" name="Picture 14">
            <a:extLst>
              <a:ext uri="{FF2B5EF4-FFF2-40B4-BE49-F238E27FC236}">
                <a16:creationId xmlns:a16="http://schemas.microsoft.com/office/drawing/2014/main" id="{D6462978-1171-F201-4314-F4AB9D0CA6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567" y="4843931"/>
            <a:ext cx="1339919" cy="609631"/>
          </a:xfrm>
          <a:prstGeom prst="rect">
            <a:avLst/>
          </a:prstGeom>
        </p:spPr>
      </p:pic>
      <p:pic>
        <p:nvPicPr>
          <p:cNvPr id="17" name="Picture 16">
            <a:extLst>
              <a:ext uri="{FF2B5EF4-FFF2-40B4-BE49-F238E27FC236}">
                <a16:creationId xmlns:a16="http://schemas.microsoft.com/office/drawing/2014/main" id="{B93BB798-3664-2DFE-B4BB-C724DE2F5E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40528" y="4001417"/>
            <a:ext cx="2623457" cy="1685028"/>
          </a:xfrm>
          <a:prstGeom prst="rect">
            <a:avLst/>
          </a:prstGeom>
        </p:spPr>
      </p:pic>
      <p:pic>
        <p:nvPicPr>
          <p:cNvPr id="22" name="Picture 21">
            <a:extLst>
              <a:ext uri="{FF2B5EF4-FFF2-40B4-BE49-F238E27FC236}">
                <a16:creationId xmlns:a16="http://schemas.microsoft.com/office/drawing/2014/main" id="{E5F72CD0-B306-4C60-8925-0CB4890AC3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24700" y="4001418"/>
            <a:ext cx="2673237" cy="1685027"/>
          </a:xfrm>
          <a:prstGeom prst="rect">
            <a:avLst/>
          </a:prstGeom>
        </p:spPr>
      </p:pic>
    </p:spTree>
    <p:extLst>
      <p:ext uri="{BB962C8B-B14F-4D97-AF65-F5344CB8AC3E}">
        <p14:creationId xmlns:p14="http://schemas.microsoft.com/office/powerpoint/2010/main" val="2739809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F2C2A-C547-6B95-B07D-CA4078981E06}"/>
              </a:ext>
            </a:extLst>
          </p:cNvPr>
          <p:cNvSpPr>
            <a:spLocks noGrp="1"/>
          </p:cNvSpPr>
          <p:nvPr>
            <p:ph type="title"/>
          </p:nvPr>
        </p:nvSpPr>
        <p:spPr/>
        <p:txBody>
          <a:bodyPr/>
          <a:lstStyle/>
          <a:p>
            <a:r>
              <a:rPr lang="en-US" dirty="0"/>
              <a:t>THEME A: GLOBAL INTESITY</a:t>
            </a:r>
          </a:p>
        </p:txBody>
      </p:sp>
      <p:sp>
        <p:nvSpPr>
          <p:cNvPr id="3" name="Content Placeholder 2">
            <a:extLst>
              <a:ext uri="{FF2B5EF4-FFF2-40B4-BE49-F238E27FC236}">
                <a16:creationId xmlns:a16="http://schemas.microsoft.com/office/drawing/2014/main" id="{40D795E4-6B20-C9E4-51D0-4D68A2A91091}"/>
              </a:ext>
            </a:extLst>
          </p:cNvPr>
          <p:cNvSpPr>
            <a:spLocks noGrp="1"/>
          </p:cNvSpPr>
          <p:nvPr>
            <p:ph sz="half" idx="1"/>
          </p:nvPr>
        </p:nvSpPr>
        <p:spPr/>
        <p:txBody>
          <a:bodyPr/>
          <a:lstStyle/>
          <a:p>
            <a:pPr marL="0" indent="0">
              <a:buNone/>
            </a:pPr>
            <a:r>
              <a:rPr lang="en-US" dirty="0">
                <a:solidFill>
                  <a:schemeClr val="accent1">
                    <a:lumMod val="60000"/>
                    <a:lumOff val="40000"/>
                  </a:schemeClr>
                </a:solidFill>
              </a:rPr>
              <a:t>How frequent were there new fatalities and cases?</a:t>
            </a:r>
          </a:p>
          <a:p>
            <a:pPr marL="0" indent="0">
              <a:buNone/>
            </a:pPr>
            <a:r>
              <a:rPr lang="en-US" sz="1400" dirty="0"/>
              <a:t>These low ratios indicate that during the period under review, the incidence of new infections and deaths was relatively infrequent.</a:t>
            </a:r>
          </a:p>
        </p:txBody>
      </p:sp>
      <p:sp>
        <p:nvSpPr>
          <p:cNvPr id="4" name="Content Placeholder 3">
            <a:extLst>
              <a:ext uri="{FF2B5EF4-FFF2-40B4-BE49-F238E27FC236}">
                <a16:creationId xmlns:a16="http://schemas.microsoft.com/office/drawing/2014/main" id="{19C6E212-5163-D6D1-338E-0B2B4497B014}"/>
              </a:ext>
            </a:extLst>
          </p:cNvPr>
          <p:cNvSpPr>
            <a:spLocks noGrp="1"/>
          </p:cNvSpPr>
          <p:nvPr>
            <p:ph sz="half" idx="2"/>
          </p:nvPr>
        </p:nvSpPr>
        <p:spPr/>
        <p:txBody>
          <a:bodyPr/>
          <a:lstStyle/>
          <a:p>
            <a:pPr marL="0" indent="0">
              <a:buNone/>
            </a:pPr>
            <a:r>
              <a:rPr lang="en-US" dirty="0">
                <a:solidFill>
                  <a:schemeClr val="accent1">
                    <a:lumMod val="60000"/>
                    <a:lumOff val="40000"/>
                  </a:schemeClr>
                </a:solidFill>
              </a:rPr>
              <a:t>What was the average reproduction rate recorded? </a:t>
            </a:r>
          </a:p>
          <a:p>
            <a:pPr marL="0" indent="0">
              <a:buNone/>
            </a:pPr>
            <a:r>
              <a:rPr lang="en-US" sz="1400" dirty="0"/>
              <a:t>The average reproduction rate value across the period is below 1. This suggests a declining rate of transmission rather than an alarming spread.</a:t>
            </a:r>
          </a:p>
        </p:txBody>
      </p:sp>
      <p:pic>
        <p:nvPicPr>
          <p:cNvPr id="6" name="Picture 5">
            <a:extLst>
              <a:ext uri="{FF2B5EF4-FFF2-40B4-BE49-F238E27FC236}">
                <a16:creationId xmlns:a16="http://schemas.microsoft.com/office/drawing/2014/main" id="{4B9018D1-1E80-8E42-B4A3-592F77465B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1057" y="3738623"/>
            <a:ext cx="2688771" cy="1226916"/>
          </a:xfrm>
          <a:prstGeom prst="rect">
            <a:avLst/>
          </a:prstGeom>
        </p:spPr>
      </p:pic>
      <p:pic>
        <p:nvPicPr>
          <p:cNvPr id="8" name="Picture 7">
            <a:extLst>
              <a:ext uri="{FF2B5EF4-FFF2-40B4-BE49-F238E27FC236}">
                <a16:creationId xmlns:a16="http://schemas.microsoft.com/office/drawing/2014/main" id="{405B0206-3173-F8BD-AF1C-1938587ECB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9603" y="3827569"/>
            <a:ext cx="1883126" cy="944575"/>
          </a:xfrm>
          <a:prstGeom prst="rect">
            <a:avLst/>
          </a:prstGeom>
        </p:spPr>
      </p:pic>
      <p:pic>
        <p:nvPicPr>
          <p:cNvPr id="10" name="Picture 9">
            <a:extLst>
              <a:ext uri="{FF2B5EF4-FFF2-40B4-BE49-F238E27FC236}">
                <a16:creationId xmlns:a16="http://schemas.microsoft.com/office/drawing/2014/main" id="{21112F41-E695-6986-0EFF-EB650B0153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7571" y="3827569"/>
            <a:ext cx="1883126" cy="944576"/>
          </a:xfrm>
          <a:prstGeom prst="rect">
            <a:avLst/>
          </a:prstGeom>
        </p:spPr>
      </p:pic>
    </p:spTree>
    <p:extLst>
      <p:ext uri="{BB962C8B-B14F-4D97-AF65-F5344CB8AC3E}">
        <p14:creationId xmlns:p14="http://schemas.microsoft.com/office/powerpoint/2010/main" val="964879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A708F-25AA-CEB8-4940-482036B23FDB}"/>
              </a:ext>
            </a:extLst>
          </p:cNvPr>
          <p:cNvSpPr>
            <a:spLocks noGrp="1"/>
          </p:cNvSpPr>
          <p:nvPr>
            <p:ph type="title"/>
          </p:nvPr>
        </p:nvSpPr>
        <p:spPr/>
        <p:txBody>
          <a:bodyPr/>
          <a:lstStyle/>
          <a:p>
            <a:r>
              <a:rPr lang="en-US" dirty="0"/>
              <a:t>THEME B: GEOGRAPHIC IMPACT</a:t>
            </a:r>
          </a:p>
        </p:txBody>
      </p:sp>
      <p:sp>
        <p:nvSpPr>
          <p:cNvPr id="3" name="Content Placeholder 2">
            <a:extLst>
              <a:ext uri="{FF2B5EF4-FFF2-40B4-BE49-F238E27FC236}">
                <a16:creationId xmlns:a16="http://schemas.microsoft.com/office/drawing/2014/main" id="{3F8CFFB3-E205-8852-C0F5-9DD153A572D8}"/>
              </a:ext>
            </a:extLst>
          </p:cNvPr>
          <p:cNvSpPr>
            <a:spLocks noGrp="1"/>
          </p:cNvSpPr>
          <p:nvPr>
            <p:ph sz="half" idx="1"/>
          </p:nvPr>
        </p:nvSpPr>
        <p:spPr/>
        <p:txBody>
          <a:bodyPr/>
          <a:lstStyle/>
          <a:p>
            <a:pPr marL="0" indent="0">
              <a:buNone/>
            </a:pPr>
            <a:r>
              <a:rPr lang="en-US" dirty="0">
                <a:solidFill>
                  <a:schemeClr val="accent1">
                    <a:lumMod val="60000"/>
                    <a:lumOff val="40000"/>
                  </a:schemeClr>
                </a:solidFill>
              </a:rPr>
              <a:t>What was the mortality rate in each continent, and which continent was most affected?</a:t>
            </a:r>
          </a:p>
          <a:p>
            <a:pPr marL="0" indent="0">
              <a:buNone/>
            </a:pPr>
            <a:r>
              <a:rPr lang="en-US" sz="1400" dirty="0"/>
              <a:t>It could be noted from the visual that North America was most affected by the pandemic, followed by South America.</a:t>
            </a:r>
          </a:p>
          <a:p>
            <a:pPr marL="0" indent="0">
              <a:buNone/>
            </a:pPr>
            <a:endParaRPr lang="en-US" dirty="0"/>
          </a:p>
        </p:txBody>
      </p:sp>
      <p:sp>
        <p:nvSpPr>
          <p:cNvPr id="4" name="Content Placeholder 3">
            <a:extLst>
              <a:ext uri="{FF2B5EF4-FFF2-40B4-BE49-F238E27FC236}">
                <a16:creationId xmlns:a16="http://schemas.microsoft.com/office/drawing/2014/main" id="{EC543081-E9F9-7F73-A652-4FBB85CD9592}"/>
              </a:ext>
            </a:extLst>
          </p:cNvPr>
          <p:cNvSpPr>
            <a:spLocks noGrp="1"/>
          </p:cNvSpPr>
          <p:nvPr>
            <p:ph sz="half" idx="2"/>
          </p:nvPr>
        </p:nvSpPr>
        <p:spPr/>
        <p:txBody>
          <a:bodyPr/>
          <a:lstStyle/>
          <a:p>
            <a:pPr marL="0" indent="0">
              <a:buNone/>
            </a:pPr>
            <a:r>
              <a:rPr lang="en-US" dirty="0">
                <a:solidFill>
                  <a:schemeClr val="accent1">
                    <a:lumMod val="60000"/>
                    <a:lumOff val="40000"/>
                  </a:schemeClr>
                </a:solidFill>
              </a:rPr>
              <a:t>What countries had the highest mortality rate?</a:t>
            </a:r>
          </a:p>
          <a:p>
            <a:pPr marL="0" indent="0">
              <a:buNone/>
            </a:pPr>
            <a:endParaRPr lang="en-US" sz="800" dirty="0">
              <a:solidFill>
                <a:schemeClr val="accent1">
                  <a:lumMod val="60000"/>
                  <a:lumOff val="40000"/>
                </a:schemeClr>
              </a:solidFill>
            </a:endParaRPr>
          </a:p>
          <a:p>
            <a:pPr marL="0" indent="0">
              <a:buNone/>
            </a:pPr>
            <a:r>
              <a:rPr lang="en-US" sz="1400" dirty="0"/>
              <a:t>From the examination of the visual, United States had the highest mortality rate. The next most affected country was Brazil.</a:t>
            </a:r>
          </a:p>
          <a:p>
            <a:pPr marL="0" indent="0">
              <a:buNone/>
            </a:pPr>
            <a:endParaRPr lang="en-US" dirty="0"/>
          </a:p>
          <a:p>
            <a:pPr marL="0" indent="0">
              <a:buNone/>
            </a:pPr>
            <a:endParaRPr lang="en-US" dirty="0"/>
          </a:p>
        </p:txBody>
      </p:sp>
      <p:pic>
        <p:nvPicPr>
          <p:cNvPr id="7" name="Picture 6">
            <a:extLst>
              <a:ext uri="{FF2B5EF4-FFF2-40B4-BE49-F238E27FC236}">
                <a16:creationId xmlns:a16="http://schemas.microsoft.com/office/drawing/2014/main" id="{D32D37F2-1C38-81AD-CE10-379C998AC3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7649" y="4156213"/>
            <a:ext cx="3560318" cy="1665514"/>
          </a:xfrm>
          <a:prstGeom prst="rect">
            <a:avLst/>
          </a:prstGeom>
        </p:spPr>
      </p:pic>
      <p:pic>
        <p:nvPicPr>
          <p:cNvPr id="10" name="Picture 9">
            <a:extLst>
              <a:ext uri="{FF2B5EF4-FFF2-40B4-BE49-F238E27FC236}">
                <a16:creationId xmlns:a16="http://schemas.microsoft.com/office/drawing/2014/main" id="{F15A82B7-4936-9D3C-90DE-E1510B1E45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4493" y="4156213"/>
            <a:ext cx="3543937" cy="1665514"/>
          </a:xfrm>
          <a:prstGeom prst="rect">
            <a:avLst/>
          </a:prstGeom>
        </p:spPr>
      </p:pic>
    </p:spTree>
    <p:extLst>
      <p:ext uri="{BB962C8B-B14F-4D97-AF65-F5344CB8AC3E}">
        <p14:creationId xmlns:p14="http://schemas.microsoft.com/office/powerpoint/2010/main" val="189059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1D483-5D62-B639-66A6-69F06A6BABC0}"/>
              </a:ext>
            </a:extLst>
          </p:cNvPr>
          <p:cNvSpPr>
            <a:spLocks noGrp="1"/>
          </p:cNvSpPr>
          <p:nvPr>
            <p:ph type="title"/>
          </p:nvPr>
        </p:nvSpPr>
        <p:spPr/>
        <p:txBody>
          <a:bodyPr/>
          <a:lstStyle/>
          <a:p>
            <a:r>
              <a:rPr lang="en-US" dirty="0"/>
              <a:t>THEME C: GLOBAL RESPONSE &amp; PREVENTION</a:t>
            </a:r>
          </a:p>
        </p:txBody>
      </p:sp>
      <p:sp>
        <p:nvSpPr>
          <p:cNvPr id="3" name="Content Placeholder 2">
            <a:extLst>
              <a:ext uri="{FF2B5EF4-FFF2-40B4-BE49-F238E27FC236}">
                <a16:creationId xmlns:a16="http://schemas.microsoft.com/office/drawing/2014/main" id="{D362519B-370A-0991-4E93-ECE63283D9F0}"/>
              </a:ext>
            </a:extLst>
          </p:cNvPr>
          <p:cNvSpPr>
            <a:spLocks noGrp="1"/>
          </p:cNvSpPr>
          <p:nvPr>
            <p:ph sz="half" idx="1"/>
          </p:nvPr>
        </p:nvSpPr>
        <p:spPr/>
        <p:txBody>
          <a:bodyPr/>
          <a:lstStyle/>
          <a:p>
            <a:pPr marL="0" indent="0">
              <a:buNone/>
            </a:pPr>
            <a:r>
              <a:rPr lang="en-US" dirty="0">
                <a:solidFill>
                  <a:schemeClr val="accent1">
                    <a:lumMod val="60000"/>
                    <a:lumOff val="40000"/>
                  </a:schemeClr>
                </a:solidFill>
              </a:rPr>
              <a:t>How strict overall were government policies regarding the pandemic? (Stringency Index) </a:t>
            </a:r>
          </a:p>
          <a:p>
            <a:pPr marL="0" indent="0">
              <a:buNone/>
            </a:pPr>
            <a:r>
              <a:rPr lang="en-US" sz="1400" dirty="0"/>
              <a:t>The average Stringency Index value of 42.9 suggests that the government was moderately strict on average. This suggests that while certain control measures were implemented, they were not among the most restrictive levels observed.</a:t>
            </a:r>
          </a:p>
        </p:txBody>
      </p:sp>
      <p:sp>
        <p:nvSpPr>
          <p:cNvPr id="4" name="Content Placeholder 3">
            <a:extLst>
              <a:ext uri="{FF2B5EF4-FFF2-40B4-BE49-F238E27FC236}">
                <a16:creationId xmlns:a16="http://schemas.microsoft.com/office/drawing/2014/main" id="{A1C2C3A4-CCAE-9F1A-D9FB-093A3D1C2B6B}"/>
              </a:ext>
            </a:extLst>
          </p:cNvPr>
          <p:cNvSpPr>
            <a:spLocks noGrp="1"/>
          </p:cNvSpPr>
          <p:nvPr>
            <p:ph sz="half" idx="2"/>
          </p:nvPr>
        </p:nvSpPr>
        <p:spPr>
          <a:xfrm>
            <a:off x="6162802" y="2056092"/>
            <a:ext cx="4396339" cy="4200245"/>
          </a:xfrm>
        </p:spPr>
        <p:txBody>
          <a:bodyPr/>
          <a:lstStyle/>
          <a:p>
            <a:pPr marL="0" indent="0">
              <a:buNone/>
            </a:pPr>
            <a:r>
              <a:rPr lang="en-US" dirty="0">
                <a:solidFill>
                  <a:schemeClr val="accent1">
                    <a:lumMod val="60000"/>
                    <a:lumOff val="40000"/>
                  </a:schemeClr>
                </a:solidFill>
              </a:rPr>
              <a:t>Were there enough vaccinations available for prevention?</a:t>
            </a:r>
          </a:p>
          <a:p>
            <a:pPr marL="0" indent="0">
              <a:buNone/>
            </a:pPr>
            <a:r>
              <a:rPr lang="en-US" sz="1400" dirty="0"/>
              <a:t>The chart visualization indicates that the number of available vaccine doses exceeded the number of individuals vaccinated, suggesting that sufficient vaccination was available for prevention. This surplus may be attributed to factors related to vaccine availability or uptake.</a:t>
            </a:r>
          </a:p>
          <a:p>
            <a:pPr marL="0" indent="0">
              <a:buNone/>
            </a:pPr>
            <a:endParaRPr lang="en-US" dirty="0"/>
          </a:p>
        </p:txBody>
      </p:sp>
      <p:pic>
        <p:nvPicPr>
          <p:cNvPr id="6" name="Picture 5">
            <a:extLst>
              <a:ext uri="{FF2B5EF4-FFF2-40B4-BE49-F238E27FC236}">
                <a16:creationId xmlns:a16="http://schemas.microsoft.com/office/drawing/2014/main" id="{C12E2391-018D-0D9F-5213-122378CE77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6226" y="4526328"/>
            <a:ext cx="2701880" cy="1323629"/>
          </a:xfrm>
          <a:prstGeom prst="rect">
            <a:avLst/>
          </a:prstGeom>
        </p:spPr>
      </p:pic>
      <p:pic>
        <p:nvPicPr>
          <p:cNvPr id="7" name="Picture 6">
            <a:extLst>
              <a:ext uri="{FF2B5EF4-FFF2-40B4-BE49-F238E27FC236}">
                <a16:creationId xmlns:a16="http://schemas.microsoft.com/office/drawing/2014/main" id="{C1636B09-EA9E-3AE8-1C3A-F57284422F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4200" y="4526328"/>
            <a:ext cx="2820804" cy="1589314"/>
          </a:xfrm>
          <a:prstGeom prst="rect">
            <a:avLst/>
          </a:prstGeom>
        </p:spPr>
      </p:pic>
    </p:spTree>
    <p:extLst>
      <p:ext uri="{BB962C8B-B14F-4D97-AF65-F5344CB8AC3E}">
        <p14:creationId xmlns:p14="http://schemas.microsoft.com/office/powerpoint/2010/main" val="3730216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17EF5-46F6-025D-2D47-ED9F881468BE}"/>
              </a:ext>
            </a:extLst>
          </p:cNvPr>
          <p:cNvSpPr>
            <a:spLocks noGrp="1"/>
          </p:cNvSpPr>
          <p:nvPr>
            <p:ph type="title"/>
          </p:nvPr>
        </p:nvSpPr>
        <p:spPr/>
        <p:txBody>
          <a:bodyPr/>
          <a:lstStyle/>
          <a:p>
            <a:r>
              <a:rPr lang="en-US" dirty="0"/>
              <a:t>THEME C: GLOBAL RESPONSE &amp; PREVENTION</a:t>
            </a:r>
          </a:p>
        </p:txBody>
      </p:sp>
      <p:sp>
        <p:nvSpPr>
          <p:cNvPr id="3" name="Content Placeholder 2">
            <a:extLst>
              <a:ext uri="{FF2B5EF4-FFF2-40B4-BE49-F238E27FC236}">
                <a16:creationId xmlns:a16="http://schemas.microsoft.com/office/drawing/2014/main" id="{DA0D0BA4-5A95-0A33-F567-CB7C202EC240}"/>
              </a:ext>
            </a:extLst>
          </p:cNvPr>
          <p:cNvSpPr>
            <a:spLocks noGrp="1"/>
          </p:cNvSpPr>
          <p:nvPr>
            <p:ph idx="1"/>
          </p:nvPr>
        </p:nvSpPr>
        <p:spPr/>
        <p:txBody>
          <a:bodyPr/>
          <a:lstStyle/>
          <a:p>
            <a:pPr marL="0" indent="0">
              <a:buNone/>
            </a:pPr>
            <a:r>
              <a:rPr lang="en-US" sz="1800" dirty="0">
                <a:solidFill>
                  <a:schemeClr val="accent1">
                    <a:lumMod val="60000"/>
                    <a:lumOff val="40000"/>
                  </a:schemeClr>
                </a:solidFill>
              </a:rPr>
              <a:t>What could we note about the number of cases in countries with stricter policies and their death rate as well? Did their high Stringency Index contribute to lowering the deaths and new cases, or did it not help?</a:t>
            </a:r>
          </a:p>
          <a:p>
            <a:pPr marL="0" indent="0">
              <a:buNone/>
            </a:pPr>
            <a:r>
              <a:rPr lang="en-US" sz="1400" dirty="0"/>
              <a:t>An examination of the visuals indicates that countries with stricter government policies tended to record higher numbers of cases and death rates. This suggests that a higher Stringency Index may not have directly contributed to lowering infections or fatalities. Instead, it is likely that stricter policies were implemented in response to already elevated case and death figures, rather than being the primary cause of reduction.</a:t>
            </a:r>
          </a:p>
        </p:txBody>
      </p:sp>
      <p:pic>
        <p:nvPicPr>
          <p:cNvPr id="6" name="Picture 5">
            <a:extLst>
              <a:ext uri="{FF2B5EF4-FFF2-40B4-BE49-F238E27FC236}">
                <a16:creationId xmlns:a16="http://schemas.microsoft.com/office/drawing/2014/main" id="{D4303D40-BD2E-8BC5-2666-52395D2F3D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3271" y="4533863"/>
            <a:ext cx="2953223" cy="1409772"/>
          </a:xfrm>
          <a:prstGeom prst="rect">
            <a:avLst/>
          </a:prstGeom>
        </p:spPr>
      </p:pic>
      <p:pic>
        <p:nvPicPr>
          <p:cNvPr id="10" name="Picture 9">
            <a:extLst>
              <a:ext uri="{FF2B5EF4-FFF2-40B4-BE49-F238E27FC236}">
                <a16:creationId xmlns:a16="http://schemas.microsoft.com/office/drawing/2014/main" id="{E7755B7C-5987-C7EE-8D12-86AE784D1A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7267" y="4546564"/>
            <a:ext cx="2895748" cy="1428822"/>
          </a:xfrm>
          <a:prstGeom prst="rect">
            <a:avLst/>
          </a:prstGeom>
        </p:spPr>
      </p:pic>
      <p:pic>
        <p:nvPicPr>
          <p:cNvPr id="12" name="Picture 11">
            <a:extLst>
              <a:ext uri="{FF2B5EF4-FFF2-40B4-BE49-F238E27FC236}">
                <a16:creationId xmlns:a16="http://schemas.microsoft.com/office/drawing/2014/main" id="{5271B753-AB9F-1063-DBD8-BD7A7F5989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5269" y="4533863"/>
            <a:ext cx="2895748" cy="1409772"/>
          </a:xfrm>
          <a:prstGeom prst="rect">
            <a:avLst/>
          </a:prstGeom>
        </p:spPr>
      </p:pic>
    </p:spTree>
    <p:extLst>
      <p:ext uri="{BB962C8B-B14F-4D97-AF65-F5344CB8AC3E}">
        <p14:creationId xmlns:p14="http://schemas.microsoft.com/office/powerpoint/2010/main" val="3563440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2FA15-A7B9-67D6-E31E-F30143818FF8}"/>
              </a:ext>
            </a:extLst>
          </p:cNvPr>
          <p:cNvSpPr>
            <a:spLocks noGrp="1"/>
          </p:cNvSpPr>
          <p:nvPr>
            <p:ph type="title"/>
          </p:nvPr>
        </p:nvSpPr>
        <p:spPr/>
        <p:txBody>
          <a:bodyPr/>
          <a:lstStyle/>
          <a:p>
            <a:r>
              <a:rPr lang="en-US" dirty="0"/>
              <a:t>DASHBOARD PREVIEW</a:t>
            </a:r>
          </a:p>
        </p:txBody>
      </p:sp>
      <p:pic>
        <p:nvPicPr>
          <p:cNvPr id="7" name="Content Placeholder 6">
            <a:extLst>
              <a:ext uri="{FF2B5EF4-FFF2-40B4-BE49-F238E27FC236}">
                <a16:creationId xmlns:a16="http://schemas.microsoft.com/office/drawing/2014/main" id="{573023B6-DE89-3579-6696-1480B08B7E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30892" y="2052638"/>
            <a:ext cx="7491992" cy="4195762"/>
          </a:xfrm>
          <a:prstGeom prst="rect">
            <a:avLst/>
          </a:prstGeom>
        </p:spPr>
      </p:pic>
    </p:spTree>
    <p:extLst>
      <p:ext uri="{BB962C8B-B14F-4D97-AF65-F5344CB8AC3E}">
        <p14:creationId xmlns:p14="http://schemas.microsoft.com/office/powerpoint/2010/main" val="2999364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B313D-8D12-E0E0-6ACD-2BBD519177F0}"/>
              </a:ext>
            </a:extLst>
          </p:cNvPr>
          <p:cNvSpPr>
            <a:spLocks noGrp="1"/>
          </p:cNvSpPr>
          <p:nvPr>
            <p:ph type="title"/>
          </p:nvPr>
        </p:nvSpPr>
        <p:spPr/>
        <p:txBody>
          <a:bodyPr/>
          <a:lstStyle/>
          <a:p>
            <a:r>
              <a:rPr lang="en-US" dirty="0"/>
              <a:t>DASHBOARD PREVIEW</a:t>
            </a:r>
          </a:p>
        </p:txBody>
      </p:sp>
      <p:pic>
        <p:nvPicPr>
          <p:cNvPr id="7" name="Content Placeholder 6">
            <a:extLst>
              <a:ext uri="{FF2B5EF4-FFF2-40B4-BE49-F238E27FC236}">
                <a16:creationId xmlns:a16="http://schemas.microsoft.com/office/drawing/2014/main" id="{30DE3E60-DA57-2EB4-96CC-DF4BE4DB54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65724" y="2052638"/>
            <a:ext cx="7422328" cy="4195762"/>
          </a:xfrm>
          <a:prstGeom prst="rect">
            <a:avLst/>
          </a:prstGeom>
        </p:spPr>
      </p:pic>
    </p:spTree>
    <p:extLst>
      <p:ext uri="{BB962C8B-B14F-4D97-AF65-F5344CB8AC3E}">
        <p14:creationId xmlns:p14="http://schemas.microsoft.com/office/powerpoint/2010/main" val="3843156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D3715-4822-A69C-86CC-EE548BD008A6}"/>
              </a:ext>
            </a:extLst>
          </p:cNvPr>
          <p:cNvSpPr>
            <a:spLocks noGrp="1"/>
          </p:cNvSpPr>
          <p:nvPr>
            <p:ph type="title"/>
          </p:nvPr>
        </p:nvSpPr>
        <p:spPr/>
        <p:txBody>
          <a:bodyPr/>
          <a:lstStyle/>
          <a:p>
            <a:r>
              <a:rPr lang="en-US" dirty="0"/>
              <a:t>DASHBOARD PREVIEW</a:t>
            </a:r>
          </a:p>
        </p:txBody>
      </p:sp>
      <p:pic>
        <p:nvPicPr>
          <p:cNvPr id="7" name="Content Placeholder 6">
            <a:extLst>
              <a:ext uri="{FF2B5EF4-FFF2-40B4-BE49-F238E27FC236}">
                <a16:creationId xmlns:a16="http://schemas.microsoft.com/office/drawing/2014/main" id="{5A6D2465-9860-6FDE-EF00-A058090ACCE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4841" y="2052638"/>
            <a:ext cx="7444093" cy="4195762"/>
          </a:xfrm>
          <a:prstGeom prst="rect">
            <a:avLst/>
          </a:prstGeom>
        </p:spPr>
      </p:pic>
    </p:spTree>
    <p:extLst>
      <p:ext uri="{BB962C8B-B14F-4D97-AF65-F5344CB8AC3E}">
        <p14:creationId xmlns:p14="http://schemas.microsoft.com/office/powerpoint/2010/main" val="2995785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8D315-4316-C73A-9836-41FE643F1A83}"/>
              </a:ext>
            </a:extLst>
          </p:cNvPr>
          <p:cNvSpPr>
            <a:spLocks noGrp="1"/>
          </p:cNvSpPr>
          <p:nvPr>
            <p:ph type="title"/>
          </p:nvPr>
        </p:nvSpPr>
        <p:spPr/>
        <p:txBody>
          <a:bodyPr/>
          <a:lstStyle/>
          <a:p>
            <a:r>
              <a:rPr lang="en-US" dirty="0"/>
              <a:t>DASHBOARD PREVIEW</a:t>
            </a:r>
          </a:p>
        </p:txBody>
      </p:sp>
      <p:pic>
        <p:nvPicPr>
          <p:cNvPr id="6" name="Content Placeholder 5">
            <a:extLst>
              <a:ext uri="{FF2B5EF4-FFF2-40B4-BE49-F238E27FC236}">
                <a16:creationId xmlns:a16="http://schemas.microsoft.com/office/drawing/2014/main" id="{A28E158D-5947-AFA8-5FA3-27623C4BD2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32217" y="2052638"/>
            <a:ext cx="7489342" cy="4195762"/>
          </a:xfrm>
          <a:prstGeom prst="rect">
            <a:avLst/>
          </a:prstGeom>
        </p:spPr>
      </p:pic>
    </p:spTree>
    <p:extLst>
      <p:ext uri="{BB962C8B-B14F-4D97-AF65-F5344CB8AC3E}">
        <p14:creationId xmlns:p14="http://schemas.microsoft.com/office/powerpoint/2010/main" val="3726303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7E036-EEA7-1371-149C-1938EDA20ECA}"/>
              </a:ext>
            </a:extLst>
          </p:cNvPr>
          <p:cNvSpPr>
            <a:spLocks noGrp="1"/>
          </p:cNvSpPr>
          <p:nvPr>
            <p:ph type="title"/>
          </p:nvPr>
        </p:nvSpPr>
        <p:spPr/>
        <p:txBody>
          <a:bodyPr/>
          <a:lstStyle/>
          <a:p>
            <a:r>
              <a:rPr lang="en-US" dirty="0"/>
              <a:t>DASHBOARD PREVIEW</a:t>
            </a:r>
          </a:p>
        </p:txBody>
      </p:sp>
      <p:pic>
        <p:nvPicPr>
          <p:cNvPr id="6" name="Content Placeholder 5">
            <a:extLst>
              <a:ext uri="{FF2B5EF4-FFF2-40B4-BE49-F238E27FC236}">
                <a16:creationId xmlns:a16="http://schemas.microsoft.com/office/drawing/2014/main" id="{3438717D-D465-A101-9A07-FCFBA50677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36385" y="2052638"/>
            <a:ext cx="7481006" cy="4195762"/>
          </a:xfrm>
          <a:prstGeom prst="rect">
            <a:avLst/>
          </a:prstGeom>
        </p:spPr>
      </p:pic>
    </p:spTree>
    <p:extLst>
      <p:ext uri="{BB962C8B-B14F-4D97-AF65-F5344CB8AC3E}">
        <p14:creationId xmlns:p14="http://schemas.microsoft.com/office/powerpoint/2010/main" val="16306251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D462A-A760-0C29-CD5C-5C75088084F1}"/>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00543A7B-6B78-857B-4C01-CF64B0ADCAE6}"/>
              </a:ext>
            </a:extLst>
          </p:cNvPr>
          <p:cNvSpPr>
            <a:spLocks noGrp="1"/>
          </p:cNvSpPr>
          <p:nvPr>
            <p:ph idx="1"/>
          </p:nvPr>
        </p:nvSpPr>
        <p:spPr>
          <a:xfrm>
            <a:off x="1103312" y="1643606"/>
            <a:ext cx="8946541" cy="4604794"/>
          </a:xfrm>
        </p:spPr>
        <p:txBody>
          <a:bodyPr>
            <a:normAutofit/>
          </a:bodyPr>
          <a:lstStyle/>
          <a:p>
            <a:pPr>
              <a:buFont typeface="Wingdings" panose="05000000000000000000" pitchFamily="2" charset="2"/>
              <a:buChar char="Ø"/>
            </a:pPr>
            <a:r>
              <a:rPr lang="en-US" dirty="0"/>
              <a:t>Vaccine availability exceeded uptake, indicating that supply was sufficient for prevention during the period analyzed.</a:t>
            </a:r>
          </a:p>
          <a:p>
            <a:pPr>
              <a:buFont typeface="Wingdings" panose="05000000000000000000" pitchFamily="2" charset="2"/>
              <a:buChar char="Ø"/>
            </a:pPr>
            <a:r>
              <a:rPr lang="en-US" dirty="0"/>
              <a:t>Government policies were moderately strict overall, as reflected by an average Stringency Index of 42.9.</a:t>
            </a:r>
          </a:p>
          <a:p>
            <a:pPr>
              <a:buFont typeface="Wingdings" panose="05000000000000000000" pitchFamily="2" charset="2"/>
              <a:buChar char="Ø"/>
            </a:pPr>
            <a:r>
              <a:rPr lang="en-US" dirty="0"/>
              <a:t>The low proportions of new cases (0.09%) and new deaths (0.07%) suggest a reduced frequency of new infections and fatalities.</a:t>
            </a:r>
          </a:p>
          <a:p>
            <a:pPr>
              <a:buFont typeface="Wingdings" panose="05000000000000000000" pitchFamily="2" charset="2"/>
              <a:buChar char="Ø"/>
            </a:pPr>
            <a:r>
              <a:rPr lang="en-US" dirty="0"/>
              <a:t>A reproduction rate below 1 (0.93) indicates a declining transmission trend.</a:t>
            </a:r>
          </a:p>
          <a:p>
            <a:pPr>
              <a:buFont typeface="Wingdings" panose="05000000000000000000" pitchFamily="2" charset="2"/>
              <a:buChar char="Ø"/>
            </a:pPr>
            <a:r>
              <a:rPr lang="en-US" dirty="0"/>
              <a:t>Countries with higher policy stringency also recorded higher case and death rates, suggesting that stricter measures were often implemented in response to rising infections rather than being the immediate cause of reduced outcomes.</a:t>
            </a:r>
          </a:p>
        </p:txBody>
      </p:sp>
    </p:spTree>
    <p:extLst>
      <p:ext uri="{BB962C8B-B14F-4D97-AF65-F5344CB8AC3E}">
        <p14:creationId xmlns:p14="http://schemas.microsoft.com/office/powerpoint/2010/main" val="20431166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docProps/app.xml><?xml version="1.0" encoding="utf-8"?>
<Properties xmlns="http://schemas.openxmlformats.org/officeDocument/2006/extended-properties" xmlns:vt="http://schemas.openxmlformats.org/officeDocument/2006/docPropsVTypes">
  <Template>Ion</Template>
  <TotalTime>1197</TotalTime>
  <Words>780</Words>
  <Application>Microsoft Office PowerPoint</Application>
  <PresentationFormat>Widescreen</PresentationFormat>
  <Paragraphs>66</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Century Gothic</vt:lpstr>
      <vt:lpstr>Wingdings</vt:lpstr>
      <vt:lpstr>Wingdings 3</vt:lpstr>
      <vt:lpstr>Ion</vt:lpstr>
      <vt:lpstr>GLOBAL COVID-19 </vt:lpstr>
      <vt:lpstr>RESEARCH QUESTIONS</vt:lpstr>
      <vt:lpstr>DATA MODEL</vt:lpstr>
      <vt:lpstr>THEME A: GLOBAL INTENSITY</vt:lpstr>
      <vt:lpstr>THEME A: GLOBAL INTESITY</vt:lpstr>
      <vt:lpstr>THEME B: GEOGRAPHIC IMPACT</vt:lpstr>
      <vt:lpstr>THEME C: GLOBAL RESPONSE &amp; PREVENTION</vt:lpstr>
      <vt:lpstr>THEME C: GLOBAL RESPONSE &amp; PREVENTION</vt:lpstr>
      <vt:lpstr>DASHBOARD PREVIEW</vt:lpstr>
      <vt:lpstr>DASHBOARD PREVIEW</vt:lpstr>
      <vt:lpstr>DASHBOARD PREVIEW</vt:lpstr>
      <vt:lpstr>DASHBOARD PREVIEW</vt:lpstr>
      <vt:lpstr>DASHBOARD PREVIEW</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Uchechukwu Okonkwo</dc:creator>
  <cp:lastModifiedBy>Uchechukwu Okonkwo</cp:lastModifiedBy>
  <cp:revision>8</cp:revision>
  <dcterms:created xsi:type="dcterms:W3CDTF">2025-12-22T15:46:10Z</dcterms:created>
  <dcterms:modified xsi:type="dcterms:W3CDTF">2026-04-21T15:10:00Z</dcterms:modified>
</cp:coreProperties>
</file>